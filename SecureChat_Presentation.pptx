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20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034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0D9C0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 QABIL NATIONAL CYBERSECURITY INITIATIVE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777240" cy="7772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6" name="Image 0" descr="/home/claude/securechat_deck/icons/Shiel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408176"/>
            <a:ext cx="429768" cy="4297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Zero-Trust Secure Messaging &amp; SecureBridge Companion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end-to-end encryption meets a cognitive AI guardian — defending citizens, families, and enterprises from the human-layer attacks that cryptography alone cannot stop.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1792" y="5074920"/>
            <a:ext cx="2257007" cy="384048"/>
          </a:xfrm>
          <a:prstGeom prst="roundRect">
            <a:avLst>
              <a:gd name="adj" fmla="val 1904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21792" y="5074920"/>
            <a:ext cx="2257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ARCHITECTURE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79967" y="5074920"/>
            <a:ext cx="2060745" cy="384048"/>
          </a:xfrm>
          <a:prstGeom prst="roundRect">
            <a:avLst>
              <a:gd name="adj" fmla="val 1904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3079967" y="5074920"/>
            <a:ext cx="206074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AI GUARDIAN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41880" y="5074920"/>
            <a:ext cx="2453268" cy="384048"/>
          </a:xfrm>
          <a:prstGeom prst="roundRect">
            <a:avLst>
              <a:gd name="adj" fmla="val 1904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5341880" y="5074920"/>
            <a:ext cx="2453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COURT-ADMISSIBLE EVIDENCE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" y="5989320"/>
            <a:ext cx="10972800" cy="0"/>
          </a:xfrm>
          <a:prstGeom prst="line">
            <a:avLst/>
          </a:prstGeom>
          <a:noFill/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621792" y="61447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 Engineering &amp; Architecture Team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0" y="61447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1.0.0  •  Production-Ready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stopped breaking encryption.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started exploiting people.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33172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7824" y="2624328"/>
            <a:ext cx="566928" cy="566928"/>
          </a:xfrm>
          <a:prstGeom prst="ellipse">
            <a:avLst/>
          </a:prstGeom>
          <a:solidFill>
            <a:srgbClr val="FF5D5D"/>
          </a:solidFill>
          <a:ln/>
        </p:spPr>
        <p:txBody>
          <a:bodyPr/>
          <a:p/>
        </p:txBody>
      </p:sp>
      <p:pic>
        <p:nvPicPr>
          <p:cNvPr id="6" name="Image 0" descr="/home/claude/securechat_deck/icons/Triangle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75234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7824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77824" y="41148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breaches begin with spear-phishing or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over messaging apps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56432" y="233172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712464" y="2624328"/>
            <a:ext cx="566928" cy="5669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1" name="Image 1" descr="/home/claude/securechat_deck/icons/HeartHandsha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275234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12464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712464" y="41148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 rapport-building before 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"Pig Butchering" romance scam strikes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91072" y="233172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547104" y="2624328"/>
            <a:ext cx="566928" cy="566928"/>
          </a:xfrm>
          <a:prstGeom prst="ellipse">
            <a:avLst/>
          </a:prstGeom>
          <a:solidFill>
            <a:srgbClr val="FF5D5D"/>
          </a:solidFill>
          <a:ln/>
        </p:spPr>
        <p:txBody>
          <a:bodyPr/>
          <a:p/>
        </p:txBody>
      </p:sp>
      <p:pic>
        <p:nvPicPr>
          <p:cNvPr id="16" name="Image 2" descr="/home/claude/securechat_deck/icons/Shield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275234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47104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</a:t>
            </a:r>
            <a:endParaRPr lang="en-US" sz="3000" dirty="0"/>
          </a:p>
        </p:txBody>
      </p:sp>
      <p:sp>
        <p:nvSpPr>
          <p:cNvPr id="18" name="Text 13"/>
          <p:cNvSpPr txBox="1"/>
          <p:nvPr/>
        </p:nvSpPr>
        <p:spPr>
          <a:xfrm>
            <a:off x="6547104" y="41148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coercive sextortion inflicts catastrophic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psychological and financial trauma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25712" y="2331720"/>
            <a:ext cx="2615184" cy="3566160"/>
          </a:xfrm>
          <a:prstGeom prst="roundRect">
            <a:avLst>
              <a:gd name="adj" fmla="val 3497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9381744" y="2624328"/>
            <a:ext cx="566928" cy="56692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21" name="Image 3" descr="/home/claude/securechat_deck/icons/File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0" y="275234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81744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9381744" y="41148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paste API keys, tokens &amp; card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straight into chat boxes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03  ·  THE ARCHITECTURAL BLIND SPOT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protects the wire.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protects the viewport.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23317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25877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FLAWED ASSUMPTIONS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163824"/>
            <a:ext cx="91440" cy="91440"/>
          </a:xfrm>
          <a:prstGeom prst="ellipse">
            <a:avLst/>
          </a:prstGeom>
          <a:solidFill>
            <a:srgbClr val="FF5D5D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52144" y="3035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secure messengers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33832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the transport is encrypted, the user is safe.” Encryption stops ISPs and wiretaps — not a malicious chat partner.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4489704"/>
            <a:ext cx="91440" cy="91440"/>
          </a:xfrm>
          <a:prstGeom prst="ellipse">
            <a:avLst/>
          </a:prstGeom>
          <a:solidFill>
            <a:srgbClr val="FF5D5D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52144" y="4361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DLP tools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52144" y="47091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centralized key escrow or decrypt-at-the-gateway proxies — destroying the very privacy E2EE promised.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3317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0D2A2A"/>
          </a:solidFill>
          <a:ln w="15875">
            <a:solidFill>
              <a:srgbClr val="00D9C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56248" y="2606040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4" name="Image 0" descr="/home/claude/securechat_deck/icons/Shiel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724912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7269480" y="271576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SECURECHAT THESIS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556248" y="3291840"/>
            <a:ext cx="4672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privacy and AI security are not mutually exclusive.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6556248" y="4023360"/>
            <a:ext cx="467258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performing pre-send, client-side inspection and zero-knowledge, user-consented cognitive analysis, SecureChat protects the user before a dangerous message leaves the client — or the instant a threat is decrypted in the viewport — without ever touching the cryptographic keys.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04  ·  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Zero-Trust Defense-in-Depth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interlocking layers — cryptographic secrecy on the outside, cognitive intelligence at the core.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0116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212848"/>
            <a:ext cx="475488" cy="47548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7" name="Image 0" descr="/home/claude/securechat_deck/icons/Key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322576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6464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Secrecy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889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X3DH key agreement + Double Ratchet with AES-256-GCM, HMAC-SHA256, Curve25519/Ed25519.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61688" y="20116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562856" y="221284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2" name="Image 1" descr="/home/claude/securechat_deck/icons/BrainCirc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32257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66360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AI Guardian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4562856" y="27889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0ms local heuristic parser paired with an async FastAPI ML microservice.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01584" y="201168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02752" y="2212848"/>
            <a:ext cx="475488" cy="47548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7" name="Image 2" descr="/home/claude/securechat_deck/icons/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32257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06256" y="21945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Grooming Tracker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8302752" y="278892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15–20 turn window scoring intimacy, isolation, pity, and exploitation velocity.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21792" y="388620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408736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22" name="Image 3" descr="/home/claude/securechat_deck/icons/Smart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19709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6464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SecureBridge Companion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466344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inspects forwarded WhatsApp, SMS &amp; email; recovers deleted-message forensics.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361688" y="388620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562856" y="4087368"/>
            <a:ext cx="475488" cy="47548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27" name="Image 4" descr="/home/claude/securechat_deck/icons/Fingerpri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584" y="41970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66360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Contact Lifecycle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4562856" y="466344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→ OBSERVED → KNOWN → VERIFIED trust posture on every contact.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01584" y="388620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8302752" y="4087368"/>
            <a:ext cx="475488" cy="47548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32" name="Image 5" descr="/home/claude/securechat_deck/icons/Sca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480" y="4197096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906256" y="40690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Dossier Exporter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8302752" y="4663440"/>
            <a:ext cx="3209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1-click, tamper-evident PDF/HTML evidence with SHA-256 integrity hashes.</a:t>
            </a:r>
            <a:endParaRPr lang="en-US" sz="1080" dirty="0"/>
          </a:p>
        </p:txBody>
      </p:sp>
      <p:sp>
        <p:nvSpPr>
          <p:cNvPr id="35" name="Text 2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05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05  ·  COGNITIVE AI GUARDIAN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engines, watching every message in real time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10233A"/>
          </a:solidFill>
          <a:ln w="15875">
            <a:solidFill>
              <a:srgbClr val="00D9C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6" name="Image 0" descr="/home/claude/securechat_deck/icons/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15798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57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Scanner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6517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JS engine on-device: entropy, suspicious regex, punycode domains, high-risk TLDs, urgency markers.</a:t>
            </a:r>
            <a:endParaRPr lang="en-US" sz="1150" dirty="0"/>
          </a:p>
        </p:txBody>
      </p:sp>
      <p:pic>
        <p:nvPicPr>
          <p:cNvPr id="9" name="Image 1" descr="/home/claude/securechat_deck/icons/Arrow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77440"/>
            <a:ext cx="457200" cy="457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46520" y="178308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10233A"/>
          </a:solidFill>
          <a:ln w="15875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720840" y="2039112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2" name="Image 2" descr="/home/claude/securechat_deck/icons/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712" y="215798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424928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ML Microservice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720840" y="26517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FastAPI service delivers an adversarial AI “second opinion” to minimize false positives.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2179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0D2A2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804672" y="395935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~1.8 ms</a:t>
            </a:r>
            <a:endParaRPr lang="en-US" sz="2700" dirty="0"/>
          </a:p>
        </p:txBody>
      </p:sp>
      <p:sp>
        <p:nvSpPr>
          <p:cNvPr id="17" name="Text 12"/>
          <p:cNvSpPr txBox="1"/>
          <p:nvPr/>
        </p:nvSpPr>
        <p:spPr>
          <a:xfrm>
            <a:off x="804672" y="466344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pre-send scan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&lt; 10 ms)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345643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0D2A2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3639312" y="395935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ms</a:t>
            </a:r>
            <a:endParaRPr lang="en-US" sz="2700" dirty="0"/>
          </a:p>
        </p:txBody>
      </p:sp>
      <p:sp>
        <p:nvSpPr>
          <p:cNvPr id="20" name="Text 15"/>
          <p:cNvSpPr txBox="1"/>
          <p:nvPr/>
        </p:nvSpPr>
        <p:spPr>
          <a:xfrm>
            <a:off x="3639312" y="466344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cognitive analysis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(target &lt; 350 ms)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29107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0D2A2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 txBox="1"/>
          <p:nvPr/>
        </p:nvSpPr>
        <p:spPr>
          <a:xfrm>
            <a:off x="6473952" y="395935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6473952" y="466344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/ credential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rate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912571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0D2A2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9308592" y="3959352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ms</a:t>
            </a:r>
            <a:endParaRPr lang="en-US" sz="2700" dirty="0"/>
          </a:p>
        </p:txBody>
      </p:sp>
      <p:sp>
        <p:nvSpPr>
          <p:cNvPr id="26" name="Text 21"/>
          <p:cNvSpPr txBox="1"/>
          <p:nvPr/>
        </p:nvSpPr>
        <p:spPr>
          <a:xfrm>
            <a:off x="9308592" y="4663440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cold-boot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06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06  ·  MULTI-TURN BEHAVIORAL ESCALATION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Catching what a single message can't reveal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417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sliding 15–20 turn window tracks four velocity indices (0–100) across the whole conversation arc.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441448"/>
            <a:ext cx="10881360" cy="91440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08760" y="2286000"/>
            <a:ext cx="402336" cy="402336"/>
          </a:xfrm>
          <a:prstGeom prst="ellipse">
            <a:avLst/>
          </a:prstGeom>
          <a:solidFill>
            <a:srgbClr val="00D9C0"/>
          </a:solidFill>
          <a:ln w="38100">
            <a:solidFill>
              <a:srgbClr val="0A142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13232" y="1764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8072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85032" y="2286000"/>
            <a:ext cx="402336" cy="402336"/>
          </a:xfrm>
          <a:prstGeom prst="ellipse">
            <a:avLst/>
          </a:prstGeom>
          <a:solidFill>
            <a:srgbClr val="8FD6C7"/>
          </a:solidFill>
          <a:ln w="38100">
            <a:solidFill>
              <a:srgbClr val="0A142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2889504" y="1764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8072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861304" y="2286000"/>
            <a:ext cx="402336" cy="402336"/>
          </a:xfrm>
          <a:prstGeom prst="ellipse">
            <a:avLst/>
          </a:prstGeom>
          <a:solidFill>
            <a:srgbClr val="F5C542"/>
          </a:solidFill>
          <a:ln w="38100">
            <a:solidFill>
              <a:srgbClr val="0A142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065776" y="1764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65776" y="28072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37576" y="2286000"/>
            <a:ext cx="402336" cy="402336"/>
          </a:xfrm>
          <a:prstGeom prst="ellipse">
            <a:avLst/>
          </a:prstGeom>
          <a:solidFill>
            <a:srgbClr val="F59E0B"/>
          </a:solidFill>
          <a:ln w="38100">
            <a:solidFill>
              <a:srgbClr val="0A142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242048" y="1764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242048" y="28072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Test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0213848" y="2286000"/>
            <a:ext cx="402336" cy="402336"/>
          </a:xfrm>
          <a:prstGeom prst="ellipse">
            <a:avLst/>
          </a:prstGeom>
          <a:solidFill>
            <a:srgbClr val="FF5D5D"/>
          </a:solidFill>
          <a:ln w="38100">
            <a:solidFill>
              <a:srgbClr val="0A142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418320" y="17647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28072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22960" y="3922776"/>
            <a:ext cx="2212848" cy="73152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3922776"/>
            <a:ext cx="774497" cy="73152"/>
          </a:xfrm>
          <a:prstGeom prst="roundRect">
            <a:avLst>
              <a:gd name="adj" fmla="val 50000"/>
            </a:avLst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822960" y="4160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Intimacy Index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59943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emotional closeness escalation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5643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0" y="3922776"/>
            <a:ext cx="2212848" cy="73152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57600" y="3922776"/>
            <a:ext cx="1106424" cy="73152"/>
          </a:xfrm>
          <a:prstGeom prst="roundRect">
            <a:avLst>
              <a:gd name="adj" fmla="val 50000"/>
            </a:avLst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3657600" y="4160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Index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459943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pull the target off-platform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9107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92240" y="3922776"/>
            <a:ext cx="2212848" cy="73152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92240" y="3922776"/>
            <a:ext cx="1438351" cy="73152"/>
          </a:xfrm>
          <a:prstGeom prst="roundRect">
            <a:avLst>
              <a:gd name="adj" fmla="val 50000"/>
            </a:avLst>
          </a:prstGeom>
          <a:solidFill>
            <a:srgbClr val="FF5D5D"/>
          </a:solidFill>
          <a:ln/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6492240" y="4160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Pity / Pressure Index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459943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or emotional exploitation cues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25712" y="3703320"/>
            <a:ext cx="2615184" cy="1783080"/>
          </a:xfrm>
          <a:prstGeom prst="roundRect">
            <a:avLst>
              <a:gd name="adj" fmla="val 512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326880" y="3922776"/>
            <a:ext cx="2212848" cy="73152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/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326880" y="3922776"/>
            <a:ext cx="1770278" cy="73152"/>
          </a:xfrm>
          <a:prstGeom prst="roundRect">
            <a:avLst>
              <a:gd name="adj" fmla="val 50000"/>
            </a:avLst>
          </a:prstGeom>
          <a:solidFill>
            <a:srgbClr val="FF5D5D"/>
          </a:solidFill>
          <a:ln/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9326880" y="41605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Index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326880" y="4599432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Coercion, threats, and extortion signals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07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07  ·  PRODUCT 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SecureBridge — protection beyond SecureChat itself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14630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still live in WhatsApp, SMS and email. SecureBridge brings the same AI protection to those unencrypted, unmanaged channels.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21792" y="22860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2578608"/>
            <a:ext cx="658368" cy="65836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7" name="Image 0" descr="/home/claude/securechat_deck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7249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3429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Threat Sandbox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4160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clipboard-paste analyzer for untrusted WhatsApp messages, SMS, and emails — inspect before you trust.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61688" y="22860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36008" y="2578608"/>
            <a:ext cx="658368" cy="658368"/>
          </a:xfrm>
          <a:prstGeom prst="ellipse">
            <a:avLst/>
          </a:prstGeom>
          <a:solidFill>
            <a:srgbClr val="FF5D5D"/>
          </a:solidFill>
          <a:ln/>
        </p:spPr>
        <p:txBody>
          <a:bodyPr/>
          <a:p/>
        </p:txBody>
      </p:sp>
      <p:pic>
        <p:nvPicPr>
          <p:cNvPr id="12" name="Image 1" descr="/home/claude/securechat_deck/icons/File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72491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36008" y="3429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Anti-Revoke Intelligence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4160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Forensic recovery and analysis of deleted or revoked messages, preserving the full evidentiary trail.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01584" y="22860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75904" y="2578608"/>
            <a:ext cx="658368" cy="65836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7" name="Image 2" descr="/home/claude/securechat_deck/icons/ShieldAle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72491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75904" y="34290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Pre-Send Inspector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416052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outbound messages before they leave the device, catching credential leaks headed to external platforms.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08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08  ·  TRUST &amp; ACCOUNTABILITY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contact to courtroom-ready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69164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96112" y="196596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6" name="Image 0" descr="/home/claude/securechat_deck/icons/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7568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36192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Contact Lifecycle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96112" y="26517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 w="15875">
            <a:solidFill>
              <a:srgbClr val="6B819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96112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2450592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interacted — highest caution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96112" y="318211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 w="15875">
            <a:solidFill>
              <a:srgbClr val="F5C54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896112" y="3182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2450592" y="31821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messages exchanged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96112" y="371246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 w="15875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896112" y="37124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2450592" y="37124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Sustained, consistent history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4242816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2A45"/>
          </a:solidFill>
          <a:ln w="15875">
            <a:solidFill>
              <a:srgbClr val="00D9C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896112" y="42428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2450592" y="4242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key verification complete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896112" y="48828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identity changes or brand-new contacts trigger an automatic downgrade and warning.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63640" y="16916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0D2A2A"/>
          </a:solidFill>
          <a:ln w="15875">
            <a:solidFill>
              <a:srgbClr val="00D9C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537960" y="196596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23" name="Image 1" descr="/home/claude/securechat_deck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075688"/>
            <a:ext cx="283464" cy="28346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178040" y="2057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Legal Dossier Exporter</a:t>
            </a:r>
            <a:endParaRPr lang="en-US" sz="1550" dirty="0"/>
          </a:p>
        </p:txBody>
      </p:sp>
      <p:sp>
        <p:nvSpPr>
          <p:cNvPr id="25" name="Text 21"/>
          <p:cNvSpPr txBox="1"/>
          <p:nvPr/>
        </p:nvSpPr>
        <p:spPr>
          <a:xfrm>
            <a:off x="6537960" y="26974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tamper-evident PDF/HTML evidence reports with SHA-256 integrity hashes, ready for submission to cybercrime authorities.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537960" y="3621024"/>
            <a:ext cx="109728" cy="10972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6793992" y="34930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verification with chain-of-custody integrity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537960" y="4078224"/>
            <a:ext cx="109728" cy="10972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6793992" y="39502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cryptographic identifiers preserved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537960" y="4535424"/>
            <a:ext cx="109728" cy="10972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31" name="Text 27"/>
          <p:cNvSpPr txBox="1"/>
          <p:nvPr/>
        </p:nvSpPr>
        <p:spPr>
          <a:xfrm>
            <a:off x="6793992" y="44074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classification badges on every exhibit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537960" y="4992624"/>
            <a:ext cx="109728" cy="109728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33" name="Text 29"/>
          <p:cNvSpPr txBox="1"/>
          <p:nvPr/>
        </p:nvSpPr>
        <p:spPr>
          <a:xfrm>
            <a:off x="6793992" y="4864608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FIA Cyber Crime Wing &amp; PECA evidentiary guidelines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09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09  ·  TECHNICAL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monorepo-driven engineering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96596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185416"/>
            <a:ext cx="530352" cy="530352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6" name="Image 0" descr="/home/claude/securechat_deck/icons/Smart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3042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apps/web + apps/android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322783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6 · Capacitor — offline-first UI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56432" y="196596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675888" y="2185416"/>
            <a:ext cx="530352" cy="530352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1" name="Image 1" descr="/home/claude/securechat_deck/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23042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75888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apps/api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675888" y="322783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20 · Express · WebSocket (ws) gateway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91072" y="196596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510528" y="2185416"/>
            <a:ext cx="530352" cy="530352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6" name="Image 2" descr="/home/claude/securechat_deck/icons/BrainCircu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30428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10528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apps/ai-service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510528" y="322783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Scikit-learn cognitive brain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25712" y="1965960"/>
            <a:ext cx="2615184" cy="1828800"/>
          </a:xfrm>
          <a:prstGeom prst="roundRect">
            <a:avLst>
              <a:gd name="adj" fmla="val 5000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9345168" y="2185416"/>
            <a:ext cx="530352" cy="530352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21" name="Image 3" descr="/home/claude/securechat_deck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230428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5168" y="283464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packages/*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345168" y="3227832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crypto, security, validation &amp; database libs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1929384" y="3794760"/>
            <a:ext cx="0" cy="320040"/>
          </a:xfrm>
          <a:prstGeom prst="line">
            <a:avLst/>
          </a:prstGeom>
          <a:noFill/>
          <a:ln w="1905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754880" y="3794760"/>
            <a:ext cx="0" cy="320040"/>
          </a:xfrm>
          <a:prstGeom prst="line">
            <a:avLst/>
          </a:prstGeom>
          <a:noFill/>
          <a:ln w="1905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7589520" y="3794760"/>
            <a:ext cx="0" cy="320040"/>
          </a:xfrm>
          <a:prstGeom prst="line">
            <a:avLst/>
          </a:prstGeom>
          <a:noFill/>
          <a:ln w="1905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7" name="Shape 21"/>
          <p:cNvSpPr/>
          <p:nvPr/>
        </p:nvSpPr>
        <p:spPr>
          <a:xfrm>
            <a:off x="10424160" y="3794760"/>
            <a:ext cx="0" cy="320040"/>
          </a:xfrm>
          <a:prstGeom prst="line">
            <a:avLst/>
          </a:prstGeom>
          <a:noFill/>
          <a:ln w="1905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1929384" y="4114800"/>
            <a:ext cx="8485632" cy="0"/>
          </a:xfrm>
          <a:prstGeom prst="line">
            <a:avLst/>
          </a:prstGeom>
          <a:noFill/>
          <a:ln w="1905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6172200" y="4114800"/>
            <a:ext cx="0" cy="320040"/>
          </a:xfrm>
          <a:prstGeom prst="line">
            <a:avLst/>
          </a:prstGeom>
          <a:noFill/>
          <a:ln w="1905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4480560" y="4434840"/>
            <a:ext cx="3383280" cy="777240"/>
          </a:xfrm>
          <a:prstGeom prst="roundRect">
            <a:avLst>
              <a:gd name="adj" fmla="val 11765"/>
            </a:avLst>
          </a:prstGeom>
          <a:solidFill>
            <a:srgbClr val="0D2A2A"/>
          </a:solidFill>
          <a:ln w="15875">
            <a:solidFill>
              <a:srgbClr val="00D9C0"/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 txBox="1"/>
          <p:nvPr/>
        </p:nvSpPr>
        <p:spPr>
          <a:xfrm>
            <a:off x="4480560" y="44348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(Supabase) · Prisma ORM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21792" y="5486400"/>
            <a:ext cx="10927080" cy="777240"/>
          </a:xfrm>
          <a:prstGeom prst="roundRect">
            <a:avLst>
              <a:gd name="adj" fmla="val 1176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33" name="Text 27"/>
          <p:cNvSpPr txBox="1"/>
          <p:nvPr/>
        </p:nvSpPr>
        <p:spPr>
          <a:xfrm>
            <a:off x="868680" y="5486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PRIMITIVES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2788920" y="548640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X3DH  ·  Double Ratchet  ·  Curve25519 / Ed25519  ·  AES-256-GCM  ·  HMAC-SHA256  ·  HKDF</a:t>
            </a:r>
            <a:endParaRPr lang="en-US" sz="1350" dirty="0"/>
          </a:p>
        </p:txBody>
      </p:sp>
      <p:sp>
        <p:nvSpPr>
          <p:cNvPr id="35" name="Text 29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10</a:t>
            </a:r>
            <a:endParaRPr lang="en-US" sz="1000" dirty="0"/>
          </a:p>
        </p:txBody>
      </p:sp>
      <p:sp>
        <p:nvSpPr>
          <p:cNvPr id="36" name="Text 30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10  · 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set. Targets beaten.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691640"/>
          <a:ext cx="10927080" cy="4114800"/>
        </p:xfrm>
        <a:graphic>
          <a:graphicData uri="http://schemas.openxmlformats.org/drawingml/2006/table">
            <a:tbl>
              <a:tblPr/>
              <a:tblGrid>
                <a:gridCol w="507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6B8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8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81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Achieved in v1.0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pre-send scan latency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D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Server-side cognitive analysis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350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D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~140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Phishing / credential detection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D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Cold-boot offline app load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500 ms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D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ms (instant)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Cryptographic secrecy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E2EE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00D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Curve25519 + AES-256-GCM + Double Ratchet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23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11  ·  WHO WE PROTECT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 citizen on the front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9659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2185416"/>
            <a:ext cx="603504" cy="603504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6" name="Image 0" descr="/home/claude/securechat_deck/icons/Buildin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322576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9344" y="21854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High-Security Executives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862072"/>
            <a:ext cx="4910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— a corporate leader guarding against CEO fraud, wire-transfer scams, and leaked AWS keys in group chats.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0488" y="196596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9944" y="2185416"/>
            <a:ext cx="603504" cy="60350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11" name="Image 1" descr="/home/claude/securechat_deck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23225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2185416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Citizens &amp; Families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6409944" y="2862072"/>
            <a:ext cx="4910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Bilal — bombarded with lottery and “urgent account” scams, uses SecureBridge to safely check every link.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" y="3858768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41248" y="4078224"/>
            <a:ext cx="603504" cy="603504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6" name="Image 2" descr="/home/claude/securechat_deck/icons/Graduation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421538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9344" y="40782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Demographics &amp; Minors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41248" y="4754880"/>
            <a:ext cx="4910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— a student targeted by a slow-escalating stranger, protected by the Grooming Tracker and Sextortion Shield.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0488" y="3858768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09944" y="4078224"/>
            <a:ext cx="603504" cy="603504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21" name="Image 3" descr="/home/claude/securechat_deck/icons/Sca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21538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078224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Cybercrime Investigators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6409944" y="4754880"/>
            <a:ext cx="4910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and victims who need court-admissible, cryptographically verified forensic documentation.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12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12  · 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89611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production-ready to next-generation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0233A"/>
          </a:solidFill>
          <a:ln w="15875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77824" y="202082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77824" y="22860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E2EE &amp; Guardian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77824" y="3017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1420"/>
          </a:solidFill>
          <a:ln w="12700">
            <a:solidFill>
              <a:srgbClr val="00D9C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77824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77824" y="3630168"/>
            <a:ext cx="82296" cy="8229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78992" y="35112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Double Ratchet + X3DH implementation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877824" y="4197096"/>
            <a:ext cx="82296" cy="8229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78992" y="407822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heuristic AI threat detection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877824" y="4764024"/>
            <a:ext cx="82296" cy="8229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78992" y="46451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messaging &amp; notifications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361688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0233A"/>
          </a:solidFill>
          <a:ln w="15875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17720" y="202082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22860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Behavioral AI &amp; Mobile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17720" y="3017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1420"/>
          </a:solidFill>
          <a:ln w="12700">
            <a:solidFill>
              <a:srgbClr val="00D9C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461772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3630168"/>
            <a:ext cx="82296" cy="8229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818888" y="35112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romance scam &amp; grooming tracker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617720" y="4197096"/>
            <a:ext cx="82296" cy="8229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4818888" y="407822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SecureBridge WhatsApp companion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617720" y="4764024"/>
            <a:ext cx="82296" cy="8229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4818888" y="46451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FIA/police evidence dossier exporter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617720" y="5330952"/>
            <a:ext cx="82296" cy="82296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4818888" y="52120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Android APK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101584" y="178308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1F1A0D"/>
          </a:solidFill>
          <a:ln w="15875">
            <a:solidFill>
              <a:srgbClr val="F5C54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357616" y="2020824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2286000"/>
            <a:ext cx="30998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Next-Generation Capabilities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357616" y="30175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A1420"/>
          </a:solidFill>
          <a:ln w="12700">
            <a:solidFill>
              <a:srgbClr val="F5C54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357616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57616" y="3630168"/>
            <a:ext cx="82296" cy="82296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8558784" y="35112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E2EE WebRTC voice/video + deepfake audio filter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357616" y="4197096"/>
            <a:ext cx="82296" cy="82296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8558784" y="407822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FIDO2 / YubiKey verification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8357616" y="4764024"/>
            <a:ext cx="82296" cy="82296"/>
          </a:xfrm>
          <a:prstGeom prst="ellipse">
            <a:avLst/>
          </a:prstGeom>
          <a:solidFill>
            <a:srgbClr val="F5C542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8558784" y="46451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identity (DID) &amp; Tor onion relay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00D9C0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13  ·  OUR VISION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097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that doesn't have to choose</a:t>
            </a:r>
            <a:endParaRPr lang="en-US" sz="3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secrecy and safety.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514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 is proof that a nation's citizens, executives, and children can have unbreakable end-to-end encryption and a vigilant AI guardian watching for the human threats that cryptography was never built to stop.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1792" y="370332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8" name="Image 0" descr="/home/claude/securechat_deck/icons/Shield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1304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98448" y="367588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Surveillance Tool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1298448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servers never hold master keys or plaintext logs.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" y="448056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2" name="Image 1" descr="/home/claude/securechat_deck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9028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98448" y="4453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an Ad Network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298448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profiling, no telemetry sales, no targeted advertising.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" y="5257800"/>
            <a:ext cx="502920" cy="502920"/>
          </a:xfrm>
          <a:prstGeom prst="ellipse">
            <a:avLst/>
          </a:prstGeom>
          <a:solidFill>
            <a:srgbClr val="00D9C0"/>
          </a:solidFill>
          <a:ln/>
        </p:spPr>
        <p:txBody>
          <a:bodyPr/>
          <a:p/>
        </p:txBody>
      </p:sp>
      <p:pic>
        <p:nvPicPr>
          <p:cNvPr id="16" name="Image 2" descr="/home/claude/securechat_deck/icons/Key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536752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98448" y="523036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Key Escrow System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298448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keys mean lost access — even for us.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452360" y="3611880"/>
            <a:ext cx="4114800" cy="2423160"/>
          </a:xfrm>
          <a:prstGeom prst="roundRect">
            <a:avLst>
              <a:gd name="adj" fmla="val 3774"/>
            </a:avLst>
          </a:prstGeom>
          <a:solidFill>
            <a:srgbClr val="10233A"/>
          </a:solidFill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0" name="Text 15"/>
          <p:cNvSpPr txBox="1"/>
          <p:nvPr/>
        </p:nvSpPr>
        <p:spPr>
          <a:xfrm>
            <a:off x="7726680" y="38221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D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CREDITS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7726680" y="4187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 Core Team &amp; Contributors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726680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Software Architecture &amp; Security Engineering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726680" y="4937760"/>
            <a:ext cx="3566160" cy="0"/>
          </a:xfrm>
          <a:prstGeom prst="line">
            <a:avLst/>
          </a:prstGeom>
          <a:noFill/>
          <a:ln w="12700">
            <a:solidFill>
              <a:srgbClr val="22384F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 txBox="1"/>
          <p:nvPr/>
        </p:nvSpPr>
        <p:spPr>
          <a:xfrm>
            <a:off x="772668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Bano Qabil Cybersecurity Initiative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7726680" y="53675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Specification &amp; Mentorship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14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6B81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SECURECHAT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D9C0"/>
                </a:solidFill>
                <a:latin typeface="Calibri"/>
              </a:rPr>
              <a:t>02  ·  GLOBAL &amp; REGIONAL SCAM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The Trillion-Dollar Cybercrime Epidemic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2C8"/>
                </a:solidFill>
                <a:latin typeface="Calibri"/>
              </a:rPr>
              <a:t>Real-world telemetry proves endpoint social engineering is now the #1 attack vector across modern communication apps.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2542032" cy="3977639"/>
          </a:xfrm>
          <a:prstGeom prst="roundRect">
            <a:avLst/>
          </a:prstGeom>
          <a:solidFill>
            <a:srgbClr val="10233A"/>
          </a:solidFill>
          <a:ln w="12700"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47672"/>
            <a:ext cx="2212848" cy="3648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F5D5D"/>
                </a:solidFill>
                <a:latin typeface="Calibri"/>
              </a:rPr>
              <a:t>GLOBAL LOSSES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5D5D"/>
                </a:solidFill>
                <a:latin typeface="Calibri"/>
              </a:rPr>
              <a:t>$1.02 Trillion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Global Consumer Fraud</a:t>
            </a:r>
          </a:p>
          <a:p>
            <a:pPr algn="l">
              <a:spcAft>
                <a:spcPts val="120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Over $1 Trillion is stolen globally every year, with 78% of victims approached directly via messaging platforms (WhatsApp, SMS, Telegram).</a:t>
            </a:r>
          </a:p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B819C"/>
                </a:solidFill>
                <a:latin typeface="Calibri"/>
              </a:rPr>
              <a:t>Source: Global Anti-Scam Alliance (GASA) &amp; ScamAdviser Annual State of Scams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2424" y="1783080"/>
            <a:ext cx="2542032" cy="3977639"/>
          </a:xfrm>
          <a:prstGeom prst="roundRect">
            <a:avLst/>
          </a:prstGeom>
          <a:solidFill>
            <a:srgbClr val="10233A"/>
          </a:solidFill>
          <a:ln w="12700"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57016" y="1947672"/>
            <a:ext cx="2212848" cy="3648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FF8C42"/>
                </a:solidFill>
                <a:latin typeface="Calibri"/>
              </a:rPr>
              <a:t>ROMANCE / PIG BUTCHERING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8C42"/>
                </a:solidFill>
                <a:latin typeface="Calibri"/>
              </a:rPr>
              <a:t>$4.57 Billion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Investment &amp; Grooming</a:t>
            </a:r>
          </a:p>
          <a:p>
            <a:pPr algn="l">
              <a:spcAft>
                <a:spcPts val="120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Average victim loss exceeds $120,000 in multi-turn romance grooming and fraudulent cryptocurrency investment syndicates.</a:t>
            </a:r>
          </a:p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B819C"/>
                </a:solidFill>
                <a:latin typeface="Calibri"/>
              </a:rPr>
              <a:t>Source: FBI Internet Crime Complaint Center (IC3) Annual Report &amp; FinCEN Advisory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1783080"/>
            <a:ext cx="2542032" cy="3977639"/>
          </a:xfrm>
          <a:prstGeom prst="roundRect">
            <a:avLst/>
          </a:prstGeom>
          <a:solidFill>
            <a:srgbClr val="10233A"/>
          </a:solidFill>
          <a:ln w="12700"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47672"/>
            <a:ext cx="2212848" cy="3648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00D9C0"/>
                </a:solidFill>
                <a:latin typeface="Calibri"/>
              </a:rPr>
              <a:t>REGIONAL PECA COMPLAINTS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0D9C0"/>
                </a:solidFill>
                <a:latin typeface="Calibri"/>
              </a:rPr>
              <a:t>100,000+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Pakistan Cybercrime</a:t>
            </a:r>
          </a:p>
          <a:p>
            <a:pPr algn="l">
              <a:spcAft>
                <a:spcPts val="120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Over 65% of reported cybercrime cases in Pakistan involve mobile wallet (EasyPaisa/JazzCash) OTP theft and fake BISP/Ehsaas lottery fraud.</a:t>
            </a:r>
          </a:p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B819C"/>
                </a:solidFill>
                <a:latin typeface="Calibri"/>
              </a:rPr>
              <a:t>Source: FIA Cyber Crime Wing Telemetry &amp; PECA 2016 Enforcement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1783080"/>
            <a:ext cx="2542032" cy="3977639"/>
          </a:xfrm>
          <a:prstGeom prst="roundRect">
            <a:avLst/>
          </a:prstGeom>
          <a:solidFill>
            <a:srgbClr val="10233A"/>
          </a:solidFill>
          <a:ln w="12700"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3144" y="1947672"/>
            <a:ext cx="2212848" cy="36484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A855F7"/>
                </a:solidFill>
                <a:latin typeface="Calibri"/>
              </a:rPr>
              <a:t>EXTORTION SPIKE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A855F7"/>
                </a:solidFill>
                <a:latin typeface="Calibri"/>
              </a:rPr>
              <a:t>1,000%+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Coercive Sextortion</a:t>
            </a:r>
          </a:p>
          <a:p>
            <a:pPr algn="l">
              <a:spcAft>
                <a:spcPts val="120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Exponential 10x surge in messaging-based coercive blackmail and intimate image extortion targeting teenagers and young adults.</a:t>
            </a:r>
          </a:p>
          <a:p>
            <a:pPr algn="l">
              <a:spcAft>
                <a:spcPts val="0"/>
              </a:spcAft>
            </a:pPr>
            <a:r>
              <a:rPr sz="850" b="0" i="1">
                <a:solidFill>
                  <a:srgbClr val="6B819C"/>
                </a:solidFill>
                <a:latin typeface="Calibri"/>
              </a:rPr>
              <a:t>Source: National Center for Missing &amp; Exploited Children (NCMEC) &amp; Thorn Studies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870448"/>
            <a:ext cx="10972800" cy="365760"/>
          </a:xfrm>
          <a:prstGeom prst="roundRect">
            <a:avLst/>
          </a:prstGeom>
          <a:solidFill>
            <a:srgbClr val="0C1A2C"/>
          </a:solidFill>
          <a:ln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00D9C0"/>
                </a:solidFill>
                <a:latin typeface="Calibri"/>
              </a:rPr>
              <a:t>VERIFIED INDUSTRY SOURCES:  FBI IC3  ·  Interpol Financial Fraud  ·  GASA  ·  FIA Cyber Crime Wing  ·  NCMEC  ·  IBM Security Cost of Breach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819C"/>
                </a:solidFill>
                <a:latin typeface="Calibri"/>
              </a:rPr>
              <a:t>SECURECHAT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19C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0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4389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D9C0"/>
                </a:solidFill>
                <a:latin typeface="Calibri"/>
              </a:rPr>
              <a:t>14  ·  THE CONCLUSION &amp; 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libri"/>
              </a:rPr>
              <a:t>SecureChat AI: Redefining Zero-Trust Communications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10972800" cy="1051560"/>
          </a:xfrm>
          <a:prstGeom prst="roundRect">
            <a:avLst/>
          </a:prstGeom>
          <a:solidFill>
            <a:srgbClr val="10233A"/>
          </a:solidFill>
          <a:ln w="1905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1">
                <a:solidFill>
                  <a:srgbClr val="FFFFFF"/>
                </a:solidFill>
                <a:latin typeface="Calibri"/>
              </a:rPr>
              <a:t>“Privacy is not just hiding bytes on the wire — true privacy is actively defending the human inside the chat.”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D9C0"/>
                </a:solidFill>
                <a:latin typeface="Calibri"/>
              </a:rPr>
              <a:t>SecureChat proves that mathematical Double Ratchet E2EE secrecy and Cognitive AI defense can operate together with zero compromise.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24912"/>
            <a:ext cx="3493008" cy="2057400"/>
          </a:xfrm>
          <a:prstGeom prst="roundRect">
            <a:avLst/>
          </a:prstGeom>
          <a:solidFill>
            <a:srgbClr val="10233A"/>
          </a:solidFill>
          <a:ln w="12700"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89504"/>
            <a:ext cx="3127248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🌐  Web Application &amp; PWA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FB2C8"/>
                </a:solidFill>
                <a:latin typeface="Calibri"/>
              </a:rPr>
              <a:t>React 18 · Vite 6 · Web Crypto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0ms local-first heuristic AI shield, interactive evidence inspection modals, and realtime WebSocket messaging.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D9C0"/>
                </a:solidFill>
                <a:latin typeface="Calibri"/>
              </a:rPr>
              <a:t>✓ LIVE &amp; PRODUCTION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6" y="2724912"/>
            <a:ext cx="3493008" cy="2057400"/>
          </a:xfrm>
          <a:prstGeom prst="roundRect">
            <a:avLst/>
          </a:prstGeom>
          <a:solidFill>
            <a:srgbClr val="10233A"/>
          </a:solidFill>
          <a:ln w="12700"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889504"/>
            <a:ext cx="3127248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⚙️  Cloud API &amp; AI Guardian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FB2C8"/>
                </a:solidFill>
                <a:latin typeface="Calibri"/>
              </a:rPr>
              <a:t>Express · WebSockets · FastAPI · ML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Sliding-window grooming tracker, Urdu/Roman Urdu dialect classifiers, and online SuperAdmin model retraining.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0B981"/>
                </a:solidFill>
                <a:latin typeface="Calibri"/>
              </a:rPr>
              <a:t>✓ DEPLOYED ON RENDER &amp; SUPABASE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2724912"/>
            <a:ext cx="3493008" cy="2057400"/>
          </a:xfrm>
          <a:prstGeom prst="roundRect">
            <a:avLst/>
          </a:prstGeom>
          <a:solidFill>
            <a:srgbClr val="10233A"/>
          </a:solidFill>
          <a:ln w="12700">
            <a:solidFill>
              <a:srgbClr val="223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2889504"/>
            <a:ext cx="3127248" cy="1728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📱  Native Android APK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9FB2C8"/>
                </a:solidFill>
                <a:latin typeface="Calibri"/>
              </a:rPr>
              <a:t>Capacitor 8.5 · Gradle 8.7 · FCM Push</a:t>
            </a:r>
          </a:p>
          <a:p>
            <a:pPr algn="l">
              <a:spcAft>
                <a:spcPts val="80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Compiled standalone mobile binary with background push notifications via Firebase BoM 33.9.0 and offline cache.</a:t>
            </a:r>
          </a:p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B82F6"/>
                </a:solidFill>
                <a:latin typeface="Calibri"/>
              </a:rPr>
              <a:t>✓ STANDALONE APK: app-debug.apk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4956048"/>
            <a:ext cx="10972800" cy="1234440"/>
          </a:xfrm>
          <a:prstGeom prst="roundRect">
            <a:avLst/>
          </a:prstGeom>
          <a:solidFill>
            <a:srgbClr val="0C1C30"/>
          </a:solidFill>
          <a:ln w="12700">
            <a:solidFill>
              <a:srgbClr val="00D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47488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💬  THANK YOU  —  QUESTIONS &amp; ANSWERS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00D9C0"/>
                </a:solidFill>
                <a:latin typeface="Calibri"/>
              </a:rPr>
              <a:t>🔗 Public Repository: https://github.com/gamerx2723/Securechat_BanoQabil</a:t>
            </a:r>
          </a:p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FB2C8"/>
                </a:solidFill>
                <a:latin typeface="Calibri"/>
              </a:rPr>
              <a:t>SecureChat Engineering Team  ·  Bano Qabil Cybersecurity &amp; Advanced Computing Initiative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63093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B819C"/>
                </a:solidFill>
                <a:latin typeface="Calibri"/>
              </a:rPr>
              <a:t>SECURECHAT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30936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 i="0">
                <a:solidFill>
                  <a:srgbClr val="6B819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1205</Words>
  <Application>Microsoft Office PowerPoint</Application>
  <PresentationFormat>Widescreen</PresentationFormat>
  <Paragraphs>232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Gamer X</cp:lastModifiedBy>
  <cp:revision>3</cp:revision>
  <dcterms:created xsi:type="dcterms:W3CDTF">2026-09-04T19:31:32Z</dcterms:created>
  <dcterms:modified xsi:type="dcterms:W3CDTF">2026-09-07T16:34:13Z</dcterms:modified>
</cp:coreProperties>
</file>